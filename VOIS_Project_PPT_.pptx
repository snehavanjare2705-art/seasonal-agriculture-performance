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8" d="100"/>
          <a:sy n="88" d="100"/>
        </p:scale>
        <p:origin x="165" y="5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nehavanjare2705-art/Seasonal-Agriculture-Performance.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8" y="3429000"/>
            <a:ext cx="5781448" cy="1796143"/>
          </a:xfrm>
        </p:spPr>
        <p:txBody>
          <a:bodyPr vert="horz" lIns="91440" tIns="45720" rIns="91440" bIns="45720" rtlCol="0" anchor="t">
            <a:normAutofit/>
          </a:bodyPr>
          <a:lstStyle/>
          <a:p>
            <a:r>
              <a:rPr lang="en-US" dirty="0">
                <a:solidFill>
                  <a:schemeClr val="tx1"/>
                </a:solidFill>
              </a:rPr>
              <a:t>Student Name  </a:t>
            </a:r>
            <a:r>
              <a:rPr lang="en-US" b="0" dirty="0">
                <a:solidFill>
                  <a:schemeClr val="tx1"/>
                </a:solidFill>
              </a:rPr>
              <a:t>: Sneha Mahesh </a:t>
            </a:r>
            <a:r>
              <a:rPr lang="en-US" b="0" dirty="0" err="1">
                <a:solidFill>
                  <a:schemeClr val="tx1"/>
                </a:solidFill>
              </a:rPr>
              <a:t>Vanjare</a:t>
            </a:r>
            <a:r>
              <a:rPr lang="en-US" b="0" dirty="0">
                <a:solidFill>
                  <a:schemeClr val="tx1"/>
                </a:solidFill>
              </a:rPr>
              <a:t> </a:t>
            </a:r>
            <a:endParaRPr lang="en-IN" b="0" dirty="0">
              <a:solidFill>
                <a:schemeClr val="tx1"/>
              </a:solidFill>
            </a:endParaRPr>
          </a:p>
          <a:p>
            <a:r>
              <a:rPr lang="en-US" dirty="0">
                <a:solidFill>
                  <a:schemeClr val="tx1"/>
                </a:solidFill>
              </a:rPr>
              <a:t>College Name </a:t>
            </a:r>
            <a:r>
              <a:rPr lang="en-US" b="0" dirty="0">
                <a:solidFill>
                  <a:schemeClr val="tx1"/>
                </a:solidFill>
              </a:rPr>
              <a:t>: Bharati Vidyapeeth College of Engineering Kolhapur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672444"/>
            <a:ext cx="11336429" cy="818638"/>
          </a:xfrm>
        </p:spPr>
        <p:txBody>
          <a:bodyPr>
            <a:normAutofit/>
          </a:bodyPr>
          <a:lstStyle/>
          <a:p>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659086"/>
            <a:ext cx="3879715" cy="646331"/>
          </a:xfrm>
          <a:prstGeom prst="rect">
            <a:avLst/>
          </a:prstGeom>
          <a:noFill/>
        </p:spPr>
        <p:txBody>
          <a:bodyPr wrap="square" rtlCol="0">
            <a:spAutoFit/>
          </a:bodyPr>
          <a:lstStyle/>
          <a:p>
            <a:r>
              <a:rPr lang="en-US" b="1" dirty="0"/>
              <a:t>AICTE STU ID :</a:t>
            </a:r>
            <a:r>
              <a:rPr lang="en-IN" dirty="0"/>
              <a:t> STU6a0d9a26e53d71779276326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04222" y="2008413"/>
            <a:ext cx="7128692" cy="3516087"/>
          </a:xfrm>
        </p:spPr>
        <p:txBody>
          <a:bodyPr vert="horz" lIns="91440" tIns="45720" rIns="91440" bIns="45720" rtlCol="0" anchor="t">
            <a:normAutofit fontScale="70000" lnSpcReduction="20000"/>
          </a:bodyPr>
          <a:lstStyle/>
          <a:p>
            <a:pPr algn="just">
              <a:lnSpc>
                <a:spcPct val="100000"/>
              </a:lnSpc>
            </a:pPr>
            <a:r>
              <a:rPr lang="en-US"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28599" y="772886"/>
            <a:ext cx="7707087" cy="729343"/>
          </a:xfrm>
        </p:spPr>
        <p:txBody>
          <a:bodyPr>
            <a:noAutofit/>
          </a:bodyPr>
          <a:lstStyle/>
          <a:p>
            <a:pPr lvl="0"/>
            <a:r>
              <a:rPr lang="en-GB" sz="4400" dirty="0"/>
              <a:t>Project  Description</a:t>
            </a:r>
            <a:br>
              <a:rPr lang="en-GB" sz="4400" dirty="0"/>
            </a:br>
            <a:br>
              <a:rPr lang="en-GB" sz="4000" dirty="0"/>
            </a:br>
            <a:r>
              <a:rPr lang="en-IN" sz="2000" b="0" dirty="0">
                <a:latin typeface="Times New Roman" panose="02020603050405020304" pitchFamily="18" charset="0"/>
                <a:cs typeface="Times New Roman" panose="02020603050405020304" pitchFamily="18" charset="0"/>
              </a:rPr>
              <a:t>Seasonal Agriculture Performance Analysis is a data analytics project focused on </a:t>
            </a:r>
            <a:r>
              <a:rPr lang="en-IN" sz="2000" b="0" dirty="0" err="1">
                <a:latin typeface="Times New Roman" panose="02020603050405020304" pitchFamily="18" charset="0"/>
                <a:cs typeface="Times New Roman" panose="02020603050405020304" pitchFamily="18" charset="0"/>
              </a:rPr>
              <a:t>analyzing</a:t>
            </a:r>
            <a:r>
              <a:rPr lang="en-IN" sz="2000" b="0" dirty="0">
                <a:latin typeface="Times New Roman" panose="02020603050405020304" pitchFamily="18" charset="0"/>
                <a:cs typeface="Times New Roman" panose="02020603050405020304" pitchFamily="18" charset="0"/>
              </a:rPr>
              <a:t> agricultural performance across different seasons, crops, and geographical regions. The project involves  cleaning and preprocessing the agricultural dataset, performing exploratory data analysis, and identifying seasonal patterns in yield, production, revenue, cost, and profit. It also examines the relationship between environmental factors such as rainfall, temperature, and soil moisture and agricultural outcomes. Resource usage, including water, fertilizer, pesticides, and irrigation methods, is </a:t>
            </a:r>
            <a:r>
              <a:rPr lang="en-IN" sz="2000" b="0" dirty="0" err="1">
                <a:latin typeface="Times New Roman" panose="02020603050405020304" pitchFamily="18" charset="0"/>
                <a:cs typeface="Times New Roman" panose="02020603050405020304" pitchFamily="18" charset="0"/>
              </a:rPr>
              <a:t>analyzed</a:t>
            </a:r>
            <a:r>
              <a:rPr lang="en-IN" sz="2000" b="0" dirty="0">
                <a:latin typeface="Times New Roman" panose="02020603050405020304" pitchFamily="18" charset="0"/>
                <a:cs typeface="Times New Roman" panose="02020603050405020304" pitchFamily="18" charset="0"/>
              </a:rPr>
              <a:t> across seasons. Statistical techniques such as correlation analysis and ANOVA, along with visualizations using Python, Matplotlib, and Seaborn, are used to identify significant trends and variations. The project concludes with data-driven insights and recommendations to support better seasonal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Autofit/>
          </a:bodyPr>
          <a:lstStyle/>
          <a:p>
            <a:pPr algn="just">
              <a:lnSpc>
                <a:spcPct val="100000"/>
              </a:lnSpc>
            </a:pPr>
            <a:r>
              <a:rPr lang="en-IN" dirty="0">
                <a:latin typeface="Times New Roman" panose="02020603050405020304" pitchFamily="18" charset="0"/>
                <a:cs typeface="Times New Roman" panose="02020603050405020304" pitchFamily="18" charset="0"/>
              </a:rPr>
              <a:t>The end users of the Seasonal Agriculture Performance Analysis project include farmers, agricultural planners, agricultural departments, researchers, and policymakers. </a:t>
            </a:r>
          </a:p>
          <a:p>
            <a:pPr algn="just">
              <a:lnSpc>
                <a:spcPct val="100000"/>
              </a:lnSpc>
            </a:pPr>
            <a:r>
              <a:rPr lang="en-IN" dirty="0">
                <a:latin typeface="Times New Roman" panose="02020603050405020304" pitchFamily="18" charset="0"/>
                <a:cs typeface="Times New Roman" panose="02020603050405020304" pitchFamily="18" charset="0"/>
              </a:rPr>
              <a:t>Farmers can use the insights to understand seasonal changes in crop yield, resource usage, and profitability. </a:t>
            </a:r>
          </a:p>
          <a:p>
            <a:pPr algn="just">
              <a:lnSpc>
                <a:spcPct val="100000"/>
              </a:lnSpc>
            </a:pPr>
            <a:r>
              <a:rPr lang="en-IN" dirty="0">
                <a:latin typeface="Times New Roman" panose="02020603050405020304" pitchFamily="18" charset="0"/>
                <a:cs typeface="Times New Roman" panose="02020603050405020304" pitchFamily="18" charset="0"/>
              </a:rPr>
              <a:t>Agricultural planners and government departments can use the analysis for better seasonal planning and resource allocation.</a:t>
            </a:r>
          </a:p>
          <a:p>
            <a:pPr algn="just">
              <a:lnSpc>
                <a:spcPct val="100000"/>
              </a:lnSpc>
            </a:pPr>
            <a:r>
              <a:rPr lang="en-IN" dirty="0">
                <a:latin typeface="Times New Roman" panose="02020603050405020304" pitchFamily="18" charset="0"/>
                <a:cs typeface="Times New Roman" panose="02020603050405020304" pitchFamily="18" charset="0"/>
              </a:rPr>
              <a:t> Researchers can use the findings to study relationships between environmental conditions and agricultural performance, while policymakers can use the data-driven insights to support evidence-based agricultural decisions. </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51214" y="1432559"/>
            <a:ext cx="7859486" cy="5126083"/>
          </a:xfrm>
        </p:spPr>
        <p:txBody>
          <a:bodyPr/>
          <a:lstStyle/>
          <a:p>
            <a:pPr lvl="0"/>
            <a:r>
              <a:rPr lang="en-IN" b="1"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 For data analysis and processing. </a:t>
            </a:r>
          </a:p>
          <a:p>
            <a:pPr lvl="0"/>
            <a:r>
              <a:rPr lang="en-IN" b="1" dirty="0">
                <a:latin typeface="Times New Roman" panose="02020603050405020304" pitchFamily="18" charset="0"/>
                <a:cs typeface="Times New Roman" panose="02020603050405020304" pitchFamily="18" charset="0"/>
              </a:rPr>
              <a:t>Jupyter Lab</a:t>
            </a:r>
            <a:r>
              <a:rPr lang="en-IN" dirty="0">
                <a:latin typeface="Times New Roman" panose="02020603050405020304" pitchFamily="18" charset="0"/>
                <a:cs typeface="Times New Roman" panose="02020603050405020304" pitchFamily="18" charset="0"/>
              </a:rPr>
              <a:t>– For developing and documenting the complete analysis. </a:t>
            </a:r>
          </a:p>
          <a:p>
            <a:pPr lvl="0"/>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For data cleaning, manipulation, and analysis. </a:t>
            </a:r>
          </a:p>
          <a:p>
            <a:pPr lvl="0"/>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 For numerical operations and calculations. </a:t>
            </a:r>
          </a:p>
          <a:p>
            <a:pPr lvl="0"/>
            <a:r>
              <a:rPr lang="en-IN" b="1" dirty="0">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 For creating data visualizations and charts. </a:t>
            </a:r>
          </a:p>
          <a:p>
            <a:pPr lvl="0"/>
            <a:r>
              <a:rPr lang="en-IN" b="1" dirty="0">
                <a:latin typeface="Times New Roman" panose="02020603050405020304" pitchFamily="18" charset="0"/>
                <a:cs typeface="Times New Roman" panose="02020603050405020304" pitchFamily="18" charset="0"/>
              </a:rPr>
              <a:t>Seaborn</a:t>
            </a:r>
            <a:r>
              <a:rPr lang="en-IN" dirty="0">
                <a:latin typeface="Times New Roman" panose="02020603050405020304" pitchFamily="18" charset="0"/>
                <a:cs typeface="Times New Roman" panose="02020603050405020304" pitchFamily="18" charset="0"/>
              </a:rPr>
              <a:t> – For statistical visualizations and graphical analysis. </a:t>
            </a:r>
          </a:p>
          <a:p>
            <a:pPr lvl="0"/>
            <a:r>
              <a:rPr lang="en-IN" b="1" dirty="0">
                <a:latin typeface="Times New Roman" panose="02020603050405020304" pitchFamily="18" charset="0"/>
                <a:cs typeface="Times New Roman" panose="02020603050405020304" pitchFamily="18" charset="0"/>
              </a:rPr>
              <a:t>SciPy</a:t>
            </a:r>
            <a:r>
              <a:rPr lang="en-IN" dirty="0">
                <a:latin typeface="Times New Roman" panose="02020603050405020304" pitchFamily="18" charset="0"/>
                <a:cs typeface="Times New Roman" panose="02020603050405020304" pitchFamily="18" charset="0"/>
              </a:rPr>
              <a:t> – For statistical analysis such as ANOVA and correlation. </a:t>
            </a:r>
          </a:p>
          <a:p>
            <a:pPr lvl="0"/>
            <a:r>
              <a:rPr lang="en-IN" b="1" dirty="0">
                <a:latin typeface="Times New Roman" panose="02020603050405020304" pitchFamily="18" charset="0"/>
                <a:cs typeface="Times New Roman" panose="02020603050405020304" pitchFamily="18" charset="0"/>
              </a:rPr>
              <a:t>Scikit-learn</a:t>
            </a:r>
            <a:r>
              <a:rPr lang="en-IN" dirty="0">
                <a:latin typeface="Times New Roman" panose="02020603050405020304" pitchFamily="18" charset="0"/>
                <a:cs typeface="Times New Roman" panose="02020603050405020304" pitchFamily="18" charset="0"/>
              </a:rPr>
              <a:t> – For data preprocessing and performance-score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Box 10">
            <a:extLst>
              <a:ext uri="{FF2B5EF4-FFF2-40B4-BE49-F238E27FC236}">
                <a16:creationId xmlns:a16="http://schemas.microsoft.com/office/drawing/2014/main" id="{F70D2823-412A-08ED-887A-7FD23C3A73A1}"/>
              </a:ext>
            </a:extLst>
          </p:cNvPr>
          <p:cNvSpPr txBox="1"/>
          <p:nvPr/>
        </p:nvSpPr>
        <p:spPr>
          <a:xfrm>
            <a:off x="1202871" y="1371600"/>
            <a:ext cx="3848100" cy="179614"/>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BA80740D-8F99-2EE0-EF0D-B1DBA524C17E}"/>
              </a:ext>
            </a:extLst>
          </p:cNvPr>
          <p:cNvSpPr txBox="1"/>
          <p:nvPr/>
        </p:nvSpPr>
        <p:spPr>
          <a:xfrm>
            <a:off x="7162800" y="370589"/>
            <a:ext cx="3848100" cy="179614"/>
          </a:xfrm>
          <a:prstGeom prst="rect">
            <a:avLst/>
          </a:prstGeom>
          <a:noFill/>
        </p:spPr>
        <p:txBody>
          <a:bodyPr wrap="square" rtlCol="0">
            <a:spAutoFit/>
          </a:bodyPr>
          <a:lstStyle/>
          <a:p>
            <a:endParaRPr lang="en-IN" dirty="0"/>
          </a:p>
        </p:txBody>
      </p:sp>
      <p:sp>
        <p:nvSpPr>
          <p:cNvPr id="17" name="TextBox 16">
            <a:extLst>
              <a:ext uri="{FF2B5EF4-FFF2-40B4-BE49-F238E27FC236}">
                <a16:creationId xmlns:a16="http://schemas.microsoft.com/office/drawing/2014/main" id="{C9DA24F2-A7C1-7B7D-150B-57E0E0B853BE}"/>
              </a:ext>
            </a:extLst>
          </p:cNvPr>
          <p:cNvSpPr txBox="1"/>
          <p:nvPr/>
        </p:nvSpPr>
        <p:spPr>
          <a:xfrm>
            <a:off x="496343" y="1112885"/>
            <a:ext cx="8990558" cy="1323439"/>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The chart compares the average revenue and total cost across different seasons. Kharif has the highest average revenue, while Zaid has the lowest revenue and its cost is higher than its revenue. Overall, the chart shows that revenue and cost vary across seasons, which helps identify the more economically </a:t>
            </a:r>
            <a:r>
              <a:rPr lang="en-IN" sz="2000" dirty="0" err="1">
                <a:latin typeface="Times New Roman" panose="02020603050405020304" pitchFamily="18" charset="0"/>
                <a:cs typeface="Times New Roman" panose="02020603050405020304" pitchFamily="18" charset="0"/>
              </a:rPr>
              <a:t>favorable</a:t>
            </a:r>
            <a:r>
              <a:rPr lang="en-IN" sz="2000" dirty="0">
                <a:latin typeface="Times New Roman" panose="02020603050405020304" pitchFamily="18" charset="0"/>
                <a:cs typeface="Times New Roman" panose="02020603050405020304" pitchFamily="18" charset="0"/>
              </a:rPr>
              <a:t> seasons.</a:t>
            </a:r>
          </a:p>
        </p:txBody>
      </p:sp>
      <p:pic>
        <p:nvPicPr>
          <p:cNvPr id="19" name="Picture 18">
            <a:extLst>
              <a:ext uri="{FF2B5EF4-FFF2-40B4-BE49-F238E27FC236}">
                <a16:creationId xmlns:a16="http://schemas.microsoft.com/office/drawing/2014/main" id="{A3268C3A-60C3-5695-7813-3B7797658981}"/>
              </a:ext>
            </a:extLst>
          </p:cNvPr>
          <p:cNvPicPr>
            <a:picLocks noChangeAspect="1"/>
          </p:cNvPicPr>
          <p:nvPr/>
        </p:nvPicPr>
        <p:blipFill>
          <a:blip r:embed="rId3"/>
          <a:stretch>
            <a:fillRect/>
          </a:stretch>
        </p:blipFill>
        <p:spPr>
          <a:xfrm>
            <a:off x="457859" y="2571929"/>
            <a:ext cx="6704941" cy="399651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82386" y="1061358"/>
            <a:ext cx="10559142" cy="1409699"/>
          </a:xfrm>
        </p:spPr>
        <p:txBody>
          <a:bodyPr>
            <a:normAutofit/>
          </a:bodyPr>
          <a:lstStyle/>
          <a:p>
            <a:pPr marL="0" indent="0" algn="just">
              <a:buNone/>
            </a:pPr>
            <a:r>
              <a:rPr lang="en-IN" dirty="0">
                <a:latin typeface="Times New Roman" panose="02020603050405020304" pitchFamily="18" charset="0"/>
                <a:cs typeface="Times New Roman" panose="02020603050405020304" pitchFamily="18" charset="0"/>
              </a:rPr>
              <a:t>The analysis identifies the top-performing crops based on average yield. Sugarcane shows the highest average yield among the selected crops, while the other crops have comparatively lower yields. This analysis helps understand differences in crop productivity and can support better crop selection and seasonal agricultural planning.</a:t>
            </a:r>
          </a:p>
        </p:txBody>
      </p:sp>
      <p:pic>
        <p:nvPicPr>
          <p:cNvPr id="3" name="Picture 2">
            <a:extLst>
              <a:ext uri="{FF2B5EF4-FFF2-40B4-BE49-F238E27FC236}">
                <a16:creationId xmlns:a16="http://schemas.microsoft.com/office/drawing/2014/main" id="{D768F057-1FEF-606E-CC2A-D906DE1407AA}"/>
              </a:ext>
            </a:extLst>
          </p:cNvPr>
          <p:cNvPicPr>
            <a:picLocks noChangeAspect="1"/>
          </p:cNvPicPr>
          <p:nvPr/>
        </p:nvPicPr>
        <p:blipFill>
          <a:blip r:embed="rId3"/>
          <a:stretch>
            <a:fillRect/>
          </a:stretch>
        </p:blipFill>
        <p:spPr>
          <a:xfrm>
            <a:off x="340531" y="2357090"/>
            <a:ext cx="6686198" cy="411483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20487" y="1153887"/>
            <a:ext cx="9367156" cy="1507670"/>
          </a:xfrm>
        </p:spPr>
        <p:txBody>
          <a:bodyPr>
            <a:noAutofit/>
          </a:bodyPr>
          <a:lstStyle/>
          <a:p>
            <a:pPr marL="0" indent="0" algn="just">
              <a:buNone/>
            </a:pPr>
            <a:r>
              <a:rPr lang="en-IN" dirty="0">
                <a:latin typeface="Times New Roman" panose="02020603050405020304" pitchFamily="18" charset="0"/>
                <a:cs typeface="Times New Roman" panose="02020603050405020304" pitchFamily="18" charset="0"/>
              </a:rPr>
              <a:t>The state-wise analysis evaluates agricultural performance across different states based on yield, production, revenue, and profit. The average yield chart highlights differences in crop productivity between states. These regional variations provide useful insights into agricultural performance and can help identify states requiring further investigation or improved resource planning. </a:t>
            </a:r>
          </a:p>
        </p:txBody>
      </p:sp>
      <p:pic>
        <p:nvPicPr>
          <p:cNvPr id="3" name="Picture 2">
            <a:extLst>
              <a:ext uri="{FF2B5EF4-FFF2-40B4-BE49-F238E27FC236}">
                <a16:creationId xmlns:a16="http://schemas.microsoft.com/office/drawing/2014/main" id="{7A69F7FF-7979-58C0-1F18-E66E3F1373A9}"/>
              </a:ext>
            </a:extLst>
          </p:cNvPr>
          <p:cNvPicPr>
            <a:picLocks noChangeAspect="1"/>
          </p:cNvPicPr>
          <p:nvPr/>
        </p:nvPicPr>
        <p:blipFill>
          <a:blip r:embed="rId3"/>
          <a:stretch>
            <a:fillRect/>
          </a:stretch>
        </p:blipFill>
        <p:spPr>
          <a:xfrm>
            <a:off x="620487" y="2886046"/>
            <a:ext cx="6346370" cy="397195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2"/>
            <a:ext cx="9115165" cy="1289041"/>
          </a:xfrm>
        </p:spPr>
        <p:txBody>
          <a:bodyPr>
            <a:noAutofit/>
          </a:bodyPr>
          <a:lstStyle/>
          <a:p>
            <a:pPr marL="0" indent="0" algn="just">
              <a:buNone/>
            </a:pPr>
            <a:r>
              <a:rPr lang="en-IN" dirty="0">
                <a:latin typeface="Times New Roman" panose="02020603050405020304" pitchFamily="18" charset="0"/>
                <a:cs typeface="Times New Roman" panose="02020603050405020304" pitchFamily="18" charset="0"/>
              </a:rPr>
              <a:t>The boxplot shows that Kharif season has the highest disease and pest risk, while Rabi and Zaid have comparatively lower risk. The outliers indicate some unusually high or low risk values. This highlights the need for better pest and disease monitoring during high-risk seasons.</a:t>
            </a:r>
          </a:p>
        </p:txBody>
      </p:sp>
      <p:pic>
        <p:nvPicPr>
          <p:cNvPr id="3" name="Picture 2">
            <a:extLst>
              <a:ext uri="{FF2B5EF4-FFF2-40B4-BE49-F238E27FC236}">
                <a16:creationId xmlns:a16="http://schemas.microsoft.com/office/drawing/2014/main" id="{59C87001-DD47-4E7D-882B-ADF32B0BE498}"/>
              </a:ext>
            </a:extLst>
          </p:cNvPr>
          <p:cNvPicPr>
            <a:picLocks noChangeAspect="1"/>
          </p:cNvPicPr>
          <p:nvPr/>
        </p:nvPicPr>
        <p:blipFill>
          <a:blip r:embed="rId3"/>
          <a:stretch>
            <a:fillRect/>
          </a:stretch>
        </p:blipFill>
        <p:spPr>
          <a:xfrm>
            <a:off x="425881" y="2720734"/>
            <a:ext cx="7009061" cy="402910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38843" y="1431693"/>
            <a:ext cx="10798627" cy="1197207"/>
          </a:xfrm>
        </p:spPr>
        <p:txBody>
          <a:bodyPr>
            <a:noAutofit/>
          </a:bodyPr>
          <a:lstStyle/>
          <a:p>
            <a:pPr marL="0" indent="0" algn="just">
              <a:buNone/>
            </a:pPr>
            <a:r>
              <a:rPr lang="en-IN" dirty="0">
                <a:latin typeface="Times New Roman" panose="02020603050405020304" pitchFamily="18" charset="0"/>
                <a:cs typeface="Times New Roman" panose="02020603050405020304" pitchFamily="18" charset="0"/>
              </a:rPr>
              <a:t>The scatter plot shows the relationship between fertilizer usage and crop yield across different seasons. The points are widely distributed, indicating that fertilizer usage does not have a simple direct relationship with yield. Kharif, Rabi, and Zaid show different yield patterns, suggesting that seasonal and other environmental factors may also influence agricultural productivity.</a:t>
            </a:r>
          </a:p>
        </p:txBody>
      </p:sp>
      <p:pic>
        <p:nvPicPr>
          <p:cNvPr id="3" name="Picture 2">
            <a:extLst>
              <a:ext uri="{FF2B5EF4-FFF2-40B4-BE49-F238E27FC236}">
                <a16:creationId xmlns:a16="http://schemas.microsoft.com/office/drawing/2014/main" id="{15834687-8CA7-C5BE-36DC-B27DF9762658}"/>
              </a:ext>
            </a:extLst>
          </p:cNvPr>
          <p:cNvPicPr>
            <a:picLocks noChangeAspect="1"/>
          </p:cNvPicPr>
          <p:nvPr/>
        </p:nvPicPr>
        <p:blipFill>
          <a:blip r:embed="rId3"/>
          <a:stretch>
            <a:fillRect/>
          </a:stretch>
        </p:blipFill>
        <p:spPr>
          <a:xfrm>
            <a:off x="447654" y="2781807"/>
            <a:ext cx="7063489" cy="407619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6">
            <a:extLst>
              <a:ext uri="{FF2B5EF4-FFF2-40B4-BE49-F238E27FC236}">
                <a16:creationId xmlns:a16="http://schemas.microsoft.com/office/drawing/2014/main" id="{408FFFAD-C96F-64EC-B632-2CE1682986F8}"/>
              </a:ext>
            </a:extLst>
          </p:cNvPr>
          <p:cNvSpPr>
            <a:spLocks noGrp="1"/>
          </p:cNvSpPr>
          <p:nvPr>
            <p:ph type="body" sz="quarter" idx="12"/>
          </p:nvPr>
        </p:nvSpPr>
        <p:spPr>
          <a:xfrm>
            <a:off x="517071" y="1275371"/>
            <a:ext cx="8893629" cy="5283271"/>
          </a:xfrm>
        </p:spPr>
        <p:txBody>
          <a:bodyPr/>
          <a:lstStyle/>
          <a:p>
            <a:pPr lvl="0" algn="just"/>
            <a:r>
              <a:rPr lang="en-IN" dirty="0">
                <a:latin typeface="Times New Roman" panose="02020603050405020304" pitchFamily="18" charset="0"/>
                <a:cs typeface="Times New Roman" panose="02020603050405020304" pitchFamily="18" charset="0"/>
              </a:rPr>
              <a:t>Real-time weather integration can be added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impact of changing weather conditions on crop performance. </a:t>
            </a:r>
          </a:p>
          <a:p>
            <a:pPr lvl="0" algn="just"/>
            <a:r>
              <a:rPr lang="en-IN" dirty="0">
                <a:latin typeface="Times New Roman" panose="02020603050405020304" pitchFamily="18" charset="0"/>
                <a:cs typeface="Times New Roman" panose="02020603050405020304" pitchFamily="18" charset="0"/>
              </a:rPr>
              <a:t>Crop yield prediction can be developed using Machine Learning models based on seasonal, environmental, and farming factors. </a:t>
            </a:r>
          </a:p>
          <a:p>
            <a:pPr lvl="0" algn="just"/>
            <a:r>
              <a:rPr lang="en-IN" dirty="0">
                <a:latin typeface="Times New Roman" panose="02020603050405020304" pitchFamily="18" charset="0"/>
                <a:cs typeface="Times New Roman" panose="02020603050405020304" pitchFamily="18" charset="0"/>
              </a:rPr>
              <a:t>Disease and pest prediction can help farmers identify potential risks in advance. </a:t>
            </a:r>
          </a:p>
          <a:p>
            <a:pPr lvl="0" algn="just"/>
            <a:r>
              <a:rPr lang="en-IN" dirty="0">
                <a:latin typeface="Times New Roman" panose="02020603050405020304" pitchFamily="18" charset="0"/>
                <a:cs typeface="Times New Roman" panose="02020603050405020304" pitchFamily="18" charset="0"/>
              </a:rPr>
              <a:t>Real-time market price analysis can be added to help farmers select more profitable crops. </a:t>
            </a:r>
          </a:p>
          <a:p>
            <a:pPr lvl="0" algn="just"/>
            <a:r>
              <a:rPr lang="en-IN" dirty="0">
                <a:latin typeface="Times New Roman" panose="02020603050405020304" pitchFamily="18" charset="0"/>
                <a:cs typeface="Times New Roman" panose="02020603050405020304" pitchFamily="18" charset="0"/>
              </a:rPr>
              <a:t>Interactive dashboards can be developed using Power BI or similar tools for easier monitoring and decision-making. </a:t>
            </a:r>
          </a:p>
          <a:p>
            <a:pPr lvl="0" algn="just"/>
            <a:r>
              <a:rPr lang="en-IN" dirty="0">
                <a:latin typeface="Times New Roman" panose="02020603050405020304" pitchFamily="18" charset="0"/>
                <a:cs typeface="Times New Roman" panose="02020603050405020304" pitchFamily="18" charset="0"/>
              </a:rPr>
              <a:t>Regional-level recommendations can be provided based on crop, season, soil, and resource conditions. </a:t>
            </a:r>
          </a:p>
          <a:p>
            <a:pPr lvl="0" algn="just"/>
            <a:r>
              <a:rPr lang="en-IN" dirty="0">
                <a:latin typeface="Times New Roman" panose="02020603050405020304" pitchFamily="18" charset="0"/>
                <a:cs typeface="Times New Roman" panose="02020603050405020304" pitchFamily="18" charset="0"/>
              </a:rPr>
              <a:t>The system can be extended with historical and real-time agricultural data to improve seasonal planning and decision-making.</a:t>
            </a:r>
          </a:p>
          <a:p>
            <a:pPr lvl="0"/>
            <a:endParaRPr lang="en-IN" dirty="0">
              <a:latin typeface="Times New Roman" panose="02020603050405020304" pitchFamily="18" charset="0"/>
              <a:cs typeface="Times New Roman" panose="02020603050405020304" pitchFamily="18" charset="0"/>
            </a:endParaRPr>
          </a:p>
          <a:p>
            <a:pPr lvl="1">
              <a:lnSpc>
                <a:spcPct val="150000"/>
              </a:lnSpc>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fade">
                                      <p:cBhvr>
                                        <p:cTn id="28" dur="1000"/>
                                        <p:tgtEl>
                                          <p:spTgt spid="2">
                                            <p:txEl>
                                              <p:pRg st="1" end="1"/>
                                            </p:txEl>
                                          </p:spTgt>
                                        </p:tgtEl>
                                      </p:cBhvr>
                                    </p:animEffect>
                                    <p:anim calcmode="lin" valueType="num">
                                      <p:cBhvr>
                                        <p:cTn id="29"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1000"/>
                                        <p:tgtEl>
                                          <p:spTgt spid="2">
                                            <p:txEl>
                                              <p:pRg st="2" end="2"/>
                                            </p:txEl>
                                          </p:spTgt>
                                        </p:tgtEl>
                                      </p:cBhvr>
                                    </p:animEffect>
                                    <p:anim calcmode="lin" valueType="num">
                                      <p:cBhvr>
                                        <p:cTn id="36"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3" end="3"/>
                                            </p:txEl>
                                          </p:spTgt>
                                        </p:tgtEl>
                                        <p:attrNameLst>
                                          <p:attrName>style.visibility</p:attrName>
                                        </p:attrNameLst>
                                      </p:cBhvr>
                                      <p:to>
                                        <p:strVal val="visible"/>
                                      </p:to>
                                    </p:set>
                                    <p:animEffect transition="in" filter="fade">
                                      <p:cBhvr>
                                        <p:cTn id="42" dur="1000"/>
                                        <p:tgtEl>
                                          <p:spTgt spid="2">
                                            <p:txEl>
                                              <p:pRg st="3" end="3"/>
                                            </p:txEl>
                                          </p:spTgt>
                                        </p:tgtEl>
                                      </p:cBhvr>
                                    </p:animEffect>
                                    <p:anim calcmode="lin" valueType="num">
                                      <p:cBhvr>
                                        <p:cTn id="4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4" end="4"/>
                                            </p:txEl>
                                          </p:spTgt>
                                        </p:tgtEl>
                                        <p:attrNameLst>
                                          <p:attrName>style.visibility</p:attrName>
                                        </p:attrNameLst>
                                      </p:cBhvr>
                                      <p:to>
                                        <p:strVal val="visible"/>
                                      </p:to>
                                    </p:set>
                                    <p:animEffect transition="in" filter="fade">
                                      <p:cBhvr>
                                        <p:cTn id="49" dur="1000"/>
                                        <p:tgtEl>
                                          <p:spTgt spid="2">
                                            <p:txEl>
                                              <p:pRg st="4" end="4"/>
                                            </p:txEl>
                                          </p:spTgt>
                                        </p:tgtEl>
                                      </p:cBhvr>
                                    </p:animEffect>
                                    <p:anim calcmode="lin" valueType="num">
                                      <p:cBhvr>
                                        <p:cTn id="5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5" end="5"/>
                                            </p:txEl>
                                          </p:spTgt>
                                        </p:tgtEl>
                                        <p:attrNameLst>
                                          <p:attrName>style.visibility</p:attrName>
                                        </p:attrNameLst>
                                      </p:cBhvr>
                                      <p:to>
                                        <p:strVal val="visible"/>
                                      </p:to>
                                    </p:set>
                                    <p:animEffect transition="in" filter="fade">
                                      <p:cBhvr>
                                        <p:cTn id="56" dur="1000"/>
                                        <p:tgtEl>
                                          <p:spTgt spid="2">
                                            <p:txEl>
                                              <p:pRg st="5" end="5"/>
                                            </p:txEl>
                                          </p:spTgt>
                                        </p:tgtEl>
                                      </p:cBhvr>
                                    </p:animEffect>
                                    <p:anim calcmode="lin" valueType="num">
                                      <p:cBhvr>
                                        <p:cTn id="57"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6" end="6"/>
                                            </p:txEl>
                                          </p:spTgt>
                                        </p:tgtEl>
                                        <p:attrNameLst>
                                          <p:attrName>style.visibility</p:attrName>
                                        </p:attrNameLst>
                                      </p:cBhvr>
                                      <p:to>
                                        <p:strVal val="visible"/>
                                      </p:to>
                                    </p:set>
                                    <p:animEffect transition="in" filter="fade">
                                      <p:cBhvr>
                                        <p:cTn id="63" dur="1000"/>
                                        <p:tgtEl>
                                          <p:spTgt spid="2">
                                            <p:txEl>
                                              <p:pRg st="6" end="6"/>
                                            </p:txEl>
                                          </p:spTgt>
                                        </p:tgtEl>
                                      </p:cBhvr>
                                    </p:animEffect>
                                    <p:anim calcmode="lin" valueType="num">
                                      <p:cBhvr>
                                        <p:cTn id="6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599757" y="1285244"/>
            <a:ext cx="7232875" cy="646331"/>
          </a:xfrm>
          <a:prstGeom prst="rect">
            <a:avLst/>
          </a:prstGeom>
          <a:noFill/>
        </p:spPr>
        <p:txBody>
          <a:bodyPr wrap="square">
            <a:spAutoFit/>
          </a:bodyPr>
          <a:lstStyle/>
          <a:p>
            <a:r>
              <a:rPr lang="en-US" dirty="0">
                <a:hlinkClick r:id="rId3"/>
              </a:rPr>
              <a:t>https://github.com/snehavanjare2705-art/Seasonal-Agriculture-Performance.git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6A8B631-E2CC-DF2A-13A3-F8E3A87AC3C0}"/>
              </a:ext>
            </a:extLst>
          </p:cNvPr>
          <p:cNvPicPr>
            <a:picLocks noChangeAspect="1"/>
          </p:cNvPicPr>
          <p:nvPr/>
        </p:nvPicPr>
        <p:blipFill>
          <a:blip r:embed="rId3"/>
          <a:stretch>
            <a:fillRect/>
          </a:stretch>
        </p:blipFill>
        <p:spPr>
          <a:xfrm>
            <a:off x="582386" y="1458779"/>
            <a:ext cx="9165473" cy="532302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56566" y="4140223"/>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1896</TotalTime>
  <Words>855</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Seasonal Agriculture Performance   Analysis</vt:lpstr>
      <vt:lpstr>PROBLEM  STATEMENT</vt:lpstr>
      <vt:lpstr>Project  Description  Seasonal Agriculture Performance Analysis is a data analytics project focused on analyzing agricultural performance across different seasons, crops, and geographical regions. The project involves  cleaning and preprocessing the agricultural dataset, performing exploratory data analysis, and identifying seasonal patterns in yield, production, revenue, cost, and profit. It also examines the relationship between environmental factors such as rainfall, temperature, and soil moisture and agricultural outcomes. Resource usage, including water, fertilizer, pesticides, and irrigation methods, is analyzed across seasons. Statistical techniques such as correlation analysis and ANOVA, along with visualizations using Python, Matplotlib, and Seaborn, are used to identify significant trends and variations. The project concludes with data-driven insights and recommendations to support better seasonal agricultural planning.</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outlook_5394F7C517E73C3C@outlook.com</cp:lastModifiedBy>
  <cp:revision>100</cp:revision>
  <dcterms:created xsi:type="dcterms:W3CDTF">2021-07-11T13:13:15Z</dcterms:created>
  <dcterms:modified xsi:type="dcterms:W3CDTF">2026-09-09T15:59:42Z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